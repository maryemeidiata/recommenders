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NDCG@10 (higher =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Random</c:v>
                  </c:pt>
                  <c:pt idx="1">
                    <c:v>Most Popular</c:v>
                  </c:pt>
                  <c:pt idx="2">
                    <c:v>Highest Avg</c:v>
                  </c:pt>
                  <c:pt idx="3">
                    <c:v>Cont. Based</c:v>
                  </c:pt>
                  <c:pt idx="4">
                    <c:v>CB+Tags</c:v>
                  </c:pt>
                  <c:pt idx="5">
                    <c:v>Item-Item</c:v>
                  </c:pt>
                  <c:pt idx="6">
                    <c:v>User-User</c:v>
                  </c:pt>
                  <c:pt idx="7">
                    <c:v>Matrix Fact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0.006</c:v>
                </c:pt>
                <c:pt idx="1">
                  <c:v>0.0899</c:v>
                </c:pt>
                <c:pt idx="2">
                  <c:v>0.0351</c:v>
                </c:pt>
                <c:pt idx="3">
                  <c:v>0.0123</c:v>
                </c:pt>
                <c:pt idx="4">
                  <c:v>0.012</c:v>
                </c:pt>
                <c:pt idx="5">
                  <c:v>0.0089</c:v>
                </c:pt>
                <c:pt idx="6">
                  <c:v>0.0018</c:v>
                </c:pt>
                <c:pt idx="7">
                  <c:v>0.043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1E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Catalog Coverage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Random</c:v>
                  </c:pt>
                  <c:pt idx="1">
                    <c:v>Most Pop.</c:v>
                  </c:pt>
                  <c:pt idx="2">
                    <c:v>High Avg</c:v>
                  </c:pt>
                  <c:pt idx="3">
                    <c:v>Cont.Based</c:v>
                  </c:pt>
                  <c:pt idx="4">
                    <c:v>CB+Tags</c:v>
                  </c:pt>
                  <c:pt idx="5">
                    <c:v>Item-Item</c:v>
                  </c:pt>
                  <c:pt idx="6">
                    <c:v>User-User</c:v>
                  </c:pt>
                  <c:pt idx="7">
                    <c:v>Matrix Fact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7.76</c:v>
                </c:pt>
                <c:pt idx="1">
                  <c:v>0.79</c:v>
                </c:pt>
                <c:pt idx="2">
                  <c:v>0.34</c:v>
                </c:pt>
                <c:pt idx="3">
                  <c:v>11.18</c:v>
                </c:pt>
                <c:pt idx="4">
                  <c:v>11.65</c:v>
                </c:pt>
                <c:pt idx="5">
                  <c:v>7.27</c:v>
                </c:pt>
                <c:pt idx="6">
                  <c:v>2.27</c:v>
                </c:pt>
                <c:pt idx="7">
                  <c:v>1.82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1E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Novelty (self-information, higher = more surprising)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Novelty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Random</c:v>
                  </c:pt>
                  <c:pt idx="1">
                    <c:v>Most Pop.</c:v>
                  </c:pt>
                  <c:pt idx="2">
                    <c:v>High Avg</c:v>
                  </c:pt>
                  <c:pt idx="3">
                    <c:v>Cont.Based</c:v>
                  </c:pt>
                  <c:pt idx="4">
                    <c:v>CB+Tags</c:v>
                  </c:pt>
                  <c:pt idx="5">
                    <c:v>Item-Item</c:v>
                  </c:pt>
                  <c:pt idx="6">
                    <c:v>User-User</c:v>
                  </c:pt>
                  <c:pt idx="7">
                    <c:v>Matrix Fact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7.23</c:v>
                </c:pt>
                <c:pt idx="1">
                  <c:v>1.53</c:v>
                </c:pt>
                <c:pt idx="2">
                  <c:v>3.68</c:v>
                </c:pt>
                <c:pt idx="3">
                  <c:v>6.95</c:v>
                </c:pt>
                <c:pt idx="4">
                  <c:v>7.26</c:v>
                </c:pt>
                <c:pt idx="5">
                  <c:v>8.91</c:v>
                </c:pt>
                <c:pt idx="6">
                  <c:v>9.02</c:v>
                </c:pt>
                <c:pt idx="7">
                  <c:v>3.33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1E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sparsity stat is key — it explains why simple algorithms often beat CF. Most users have rated &lt;100 of 9,724 movies.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Matrix Factorization implemented from scratch using SGD (not scikit-surprise or LightFM). Both Item-Item and User-User CF implemented — skeleton only required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Relevance threshold of 3.5 is important — without it, a 1-star rating counts as 'liked', inflating all accuracy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the high sparsity (98.3%) means most users haven't rated movies that are similar to each other — this kills neighbourhood-based CF. MF handles this by learning dense latent factors.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accuracy-novelty-coverage trade-off is fundamental. No single model wins on all dimensions. This is why real systems use hybrid or ensemble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Popularity bias is arguably the most important practical problem in deployed recommender systems. Even Netflix and Spotify acknowledge this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temporal split was the most important methodological decision. Without it, reported NDCG would be ~30-40% higher for all models due to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takeaway: no single algorithm wins. Production systems (Netflix, Spotify) all use ensembles that weight accuracy, diversity, and novelty differently per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822960"/>
            <a:ext cx="2834640" cy="3383280"/>
          </a:xfrm>
          <a:prstGeom prst="roundRect">
            <a:avLst>
              <a:gd name="adj" fmla="val 4839"/>
            </a:avLst>
          </a:prstGeom>
          <a:solidFill>
            <a:srgbClr val="1A1A2E"/>
          </a:solidFill>
          <a:ln w="1905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852160" y="822960"/>
            <a:ext cx="283464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0" y="822960"/>
            <a:ext cx="566928" cy="5943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19088" y="822960"/>
            <a:ext cx="566928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86016" y="822960"/>
            <a:ext cx="566928" cy="5943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52944" y="822960"/>
            <a:ext cx="566928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19872" y="822960"/>
            <a:ext cx="566928" cy="594360"/>
          </a:xfrm>
          <a:prstGeom prst="rect">
            <a:avLst/>
          </a:prstGeom>
          <a:solidFill>
            <a:srgbClr val="22222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1417320"/>
            <a:ext cx="2834640" cy="0"/>
          </a:xfrm>
          <a:prstGeom prst="line">
            <a:avLst/>
          </a:prstGeom>
          <a:noFill/>
          <a:ln w="25400">
            <a:solidFill>
              <a:srgbClr val="E945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645920"/>
            <a:ext cx="320040" cy="228600"/>
          </a:xfrm>
          <a:prstGeom prst="roundRect">
            <a:avLst>
              <a:gd name="adj" fmla="val 24000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645920"/>
            <a:ext cx="320040" cy="228600"/>
          </a:xfrm>
          <a:prstGeom prst="roundRect">
            <a:avLst>
              <a:gd name="adj" fmla="val 24000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331720"/>
            <a:ext cx="320040" cy="228600"/>
          </a:xfrm>
          <a:prstGeom prst="roundRect">
            <a:avLst>
              <a:gd name="adj" fmla="val 24000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2331720"/>
            <a:ext cx="320040" cy="228600"/>
          </a:xfrm>
          <a:prstGeom prst="roundRect">
            <a:avLst>
              <a:gd name="adj" fmla="val 24000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3017520"/>
            <a:ext cx="320040" cy="228600"/>
          </a:xfrm>
          <a:prstGeom prst="roundRect">
            <a:avLst>
              <a:gd name="adj" fmla="val 24000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3017520"/>
            <a:ext cx="320040" cy="228600"/>
          </a:xfrm>
          <a:prstGeom prst="roundRect">
            <a:avLst>
              <a:gd name="adj" fmla="val 24000"/>
            </a:avLst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2331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610 users · 9,724 films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100,836 ratings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10972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CineMatch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36576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Movie Recommender System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65760" y="2651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Latest Small · Recommender Systems · Esade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480560"/>
            <a:ext cx="841248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Maryeme Idiata  ·  Prof. Marc Torrens  ·  Recommender Systems Individual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Latest Small — what we're working with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3931920" cy="3383280"/>
          </a:xfrm>
          <a:prstGeom prst="roundRect">
            <a:avLst>
              <a:gd name="adj" fmla="val 3243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E94560"/>
                </a:solidFill>
              </a:rPr>
              <a:t>CONTEXT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overwhelmed by choice. A good recommender must learn hidden preferences from sparse, noisy interaction data — without overfitting, and without just recommending blockbusters to everyone.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MovieLens?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 used in hundreds of published papers. Real user ratings, rich metadata (genres, tags, timestamps).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4630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80560" y="2194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1325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4630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9,724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21945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83464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2971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100,836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80560" y="3703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283464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75120" y="29718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3703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4343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 of all possible user–movie pairs have no rating — the core challenge for collaborative filtering.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Algorithms — From Simple to Sophisticated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scratch, no external recommendation libraries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258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44475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173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84048" y="1627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Popular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9659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most-rated movies globally. Strong non-personalised baseline.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44475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4173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355848" y="1627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Avg Rating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9659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items with ≥20 ratings, rank by mean. Avoids low-count noise.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7648" y="1444752"/>
            <a:ext cx="128016" cy="128016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4173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327648" y="16276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19659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random sample. Control baseline — any model must beat this.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044952"/>
            <a:ext cx="128016" cy="128016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0175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84048" y="3227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84048" y="35661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on genres. Weighted user profile = Σ(r–r̄)·v_i. Cosine similarity.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3044952"/>
            <a:ext cx="128016" cy="128016"/>
          </a:xfrm>
          <a:prstGeom prst="ellipse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30175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55848" y="3227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+ Tags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5661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above but adds user tag text to item features for richer profiles.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7648" y="3044952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3017520"/>
            <a:ext cx="2423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27648" y="32278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Item-Item CF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27648" y="3566160"/>
            <a:ext cx="2606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between all movie pairs. Score via top-k rated neighbours.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27448" y="292608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37176" y="3044952"/>
            <a:ext cx="128016" cy="12801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0056" y="301752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37176" y="322783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Factorisation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37176" y="3566160"/>
            <a:ext cx="3886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SGD: r̂ = μ + b_u + b_i + p_u·q_i. 50 latent factors, 20 epochs.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+ 7 metrics across 200 sampled users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8595360" cy="1417320"/>
          </a:xfrm>
          <a:prstGeom prst="roundRect">
            <a:avLst>
              <a:gd name="adj" fmla="val 7742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E94560"/>
                </a:solidFill>
              </a:rPr>
              <a:t>TRAIN / TEST SPLIT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temporal, not random?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by timestamp and keeping each user's most recent 20% as test set mimics real deployment: a system always predicts future behaviour from past behaviour. A random split leaks future ratings into training, inflating every metric.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828800"/>
            <a:ext cx="3291840" cy="4572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828800"/>
            <a:ext cx="822960" cy="457200"/>
          </a:xfrm>
          <a:prstGeom prst="rect">
            <a:avLst/>
          </a:prstGeom>
          <a:solidFill>
            <a:srgbClr val="E94560">
              <a:alpha val="7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(80%)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828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2395728"/>
            <a:ext cx="3291840" cy="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240487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760720" y="24048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 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589520" y="24048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Metrics — Accuracy + Beyond Accuracy: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10896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23697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43814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top-10 that are relevant (≥3.5★)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310896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0128" y="323697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10128" y="343814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all liked movies that appear in top-10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72200" y="310896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81928" y="3236976"/>
            <a:ext cx="91440" cy="9144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1821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NDCG@10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81928" y="343814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Position-weighted precision — rewards early hits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88620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401421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959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" y="42153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rank of first relevant item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0" y="388620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10128" y="401421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3959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 Rate@10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310128" y="42153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did the user find at least one liked film?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388620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81928" y="4014216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959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81928" y="421538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catalog ever recommended to any user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663440"/>
            <a:ext cx="2743200" cy="685800"/>
          </a:xfrm>
          <a:prstGeom prst="roundRect">
            <a:avLst>
              <a:gd name="adj" fmla="val 1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84048" y="4791456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7365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" y="499262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self-information: −log₂(popularity/n_users)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Relevance threshold: only ratings ≥ 3.5 count as positive feedback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200 randomly sampled users at K = 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28016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349240" y="1280160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23560" y="134416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Popular wins on accuracy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23560" y="164592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NDCG=0.090 — non-personalised baseline beats all collaborative methods. High sparsity (98.3%) limits CF.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349240" y="246888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9240" y="2468880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23560" y="253288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Factorisation best personalised 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23560" y="283464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NDCG=0.043, Precision=0.041 — 4.8× better than User-User CF. Latent factors handle sparsity better than neighbourhood methods.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49240" y="365760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49240" y="3657600"/>
            <a:ext cx="164592" cy="1051560"/>
          </a:xfrm>
          <a:prstGeom prst="roundRect">
            <a:avLst>
              <a:gd name="adj" fmla="val 27778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23560" y="372160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User-User CF struggles most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23560" y="402336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NDCG=0.002 — similarity computed on extremely sparse vectors yields near-random neighbourhood matching.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34924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 — Precision@10: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Accuracy: Coverage &amp; Novelty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doesn't make a great recommender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234440"/>
          <a:ext cx="42976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41148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4114800"/>
            <a:ext cx="2743200" cy="73152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42245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has 11.65% coverage — highest of any personalised model. Genre diversity drives long-tail exposure.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0" y="41148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4114800"/>
            <a:ext cx="2743200" cy="73152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10128" y="42245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covers only 0.79% of catalog. It recommends the same 77 movies to everyone — a popularity trap.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411480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4114800"/>
            <a:ext cx="2743200" cy="73152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36208" y="42245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User-User CF achieves novelty 9.02 — the most surprising recommendations. But accuracy is near-zero, making novelty hollow.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Bias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algorithms over-recommend blockbusters — ignoring 93% of the catalog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3017520" cy="3474720"/>
          </a:xfrm>
          <a:prstGeom prst="roundRect">
            <a:avLst>
              <a:gd name="adj" fmla="val 3636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417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E94560"/>
                </a:solidFill>
              </a:rPr>
              <a:t>LONG TAIL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long tail?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6517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fraction of movies account for the vast majority of ratings: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Top 1% (118 films) = 20% of ratings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Top 7% (583 films) = 50% of ratings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Bottom 79% = just 20% of ratings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ignores the bottom 79% entirely. Content-Based can surface niche films because it operates on genre text, not interaction frequency.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1417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0A500">
              <a:alpha val="2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500"/>
                </a:solidFill>
              </a:rPr>
              <a:t>TIER ANALYSIS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691640"/>
          <a:ext cx="5120640" cy="1325880"/>
        </p:xfrm>
        <a:graphic>
          <a:graphicData uri="http://schemas.openxmlformats.org/drawingml/2006/table">
            <a:tbl>
              <a:tblPr/>
              <a:tblGrid>
                <a:gridCol w="1645920"/>
                <a:gridCol w="91440"/>
                <a:gridCol w="1097280"/>
                <a:gridCol w="1097280"/>
                <a:gridCol w="1097280"/>
              </a:tblGrid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94560"/>
                          </a:solidFill>
                        </a:rPr>
                        <a:t>Head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</a:rPr>
                        <a:t>Torso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361EE"/>
                          </a:solidFill>
                        </a:rPr>
                        <a:t>Tail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Most Popular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</a:rPr>
                        <a:t>~100%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~0%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361EE"/>
                          </a:solidFill>
                        </a:rPr>
                        <a:t>~0%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Highest Avg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</a:rPr>
                        <a:t>~90%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~8%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361EE"/>
                          </a:solidFill>
                        </a:rPr>
                        <a:t>~2%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Matrix Fact.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</a:rPr>
                        <a:t>~60%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~25%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361EE"/>
                          </a:solidFill>
                        </a:rPr>
                        <a:t>~15%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Content-Based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</a:rPr>
                        <a:t>~30%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~25%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361EE"/>
                          </a:solidFill>
                        </a:rPr>
                        <a:t>~45%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Item-Item CF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</a:rPr>
                        <a:t>~35%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~20%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361EE"/>
                          </a:solidFill>
                        </a:rPr>
                        <a:t>~45%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894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</a:rPr>
                        <a:t>Random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94560"/>
                          </a:solidFill>
                        </a:rPr>
                        <a:t>~8%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A500"/>
                          </a:solidFill>
                        </a:rPr>
                        <a:t>~15%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361EE"/>
                          </a:solidFill>
                        </a:rPr>
                        <a:t>~77%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474720" y="324612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03320" y="33832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0332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6D6A0"/>
                </a:solidFill>
              </a:rPr>
              <a:t>GINI COEFFICIENT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657600" y="3703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inequality (Gini — 0 = fair, 1 = one movie gets everything):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657600" y="400507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        Gini 0.85   Content        Gini 0.90   Item-Item      Gini 0.92   Matrix Fact    Gini 0.97   Most Popular   Gini 0.99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4846320"/>
            <a:ext cx="8595360" cy="246888"/>
          </a:xfrm>
          <a:prstGeom prst="roundRect">
            <a:avLst>
              <a:gd name="adj" fmla="val 22222"/>
            </a:avLst>
          </a:prstGeom>
          <a:solidFill>
            <a:srgbClr val="E94560">
              <a:alpha val="15000"/>
            </a:srgbClr>
          </a:solidFill>
          <a:ln w="6350">
            <a:solidFill>
              <a:srgbClr val="E945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846320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popular items get recommended → more views → more ratings → appear even more popular. The long tail is starved of exposure.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Challenges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hard and how it was solved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3533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Sparsity (98.3%)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user-item pairs are unobserved. CF similarity computed on near-zero vectors is unstable.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Factorisation bypasses this by learning dense latent representations. Minimum rating threshold (min_ratings=20) in baselines filters unreliable averages.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31546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322783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4048" y="3227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Leakage in Evaluation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6118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train/test split would let future ratings appear in training — making every model look better than it really is.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sort by timestamp, keep each user's last 20% as test. Relevance threshold ≥3.5★ ensures only truly liked movies count as ground truth.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135331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73168" y="13533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of CF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73168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Item-Item CF requires O(n²) cosine similarity between 9,724 movies. User-User CF requires O(u²) over 610 users.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at fit() time using sklearn's cosine_similarity on CSR sparse matrices. Stored as dense NumPy arrays for fast top-k lookup at recommend() time.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3168" y="322783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36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773168" y="3227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73168" y="361188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and MF cannot make predictions for new users or movies with no interaction history.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algorithms (Most Popular, Highest Avg) serve as natural fallbacks. Content-Based uses genre metadata and requires no interaction history.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E94560"/>
                </a:solidFill>
              </a:rPr>
              <a:t>CONCLUSION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164592" cy="1645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Popularity bias is real and strong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beats all CF models on accuracy despite being non-personalised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679192"/>
            <a:ext cx="164592" cy="1645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3347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Sparsity kills neighbourhood CF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 sparsity makes User-User CF nearly random; MF handles it far better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392424"/>
            <a:ext cx="164592" cy="1645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4670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≠ 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trades accuracy for 11.65% coverage; the right choice depends on the business goal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4105656"/>
            <a:ext cx="164592" cy="16459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5993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design matters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+ relevance threshold prevents misleading metric inflation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74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Ranking Summary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713232"/>
          <a:ext cx="4846320" cy="2011680"/>
        </p:xfrm>
        <a:graphic>
          <a:graphicData uri="http://schemas.openxmlformats.org/drawingml/2006/table">
            <a:tbl>
              <a:tblPr/>
              <a:tblGrid>
                <a:gridCol w="1280160"/>
                <a:gridCol w="822960"/>
                <a:gridCol w="914400"/>
                <a:gridCol w="822960"/>
                <a:gridCol w="10058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NDCG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46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Most Popular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94560"/>
                          </a:solidFill>
                        </a:rPr>
                        <a:t>0.090 ★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94560"/>
                          </a:solidFill>
                        </a:rPr>
                        <a:t>0.071 ★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AAAA"/>
                          </a:solidFill>
                        </a:rPr>
                        <a:t>0.8%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AAAA"/>
                          </a:solidFill>
                        </a:rPr>
                        <a:t>New users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Matrix Fact.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0.043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0.041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AAAA"/>
                          </a:solidFill>
                        </a:rPr>
                        <a:t>1.8%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AAAA"/>
                          </a:solidFill>
                        </a:rPr>
                        <a:t>Personalised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CB + Tags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0.012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0.011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D6A0"/>
                          </a:solidFill>
                        </a:rPr>
                        <a:t>11.7% ★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AAAA"/>
                          </a:solidFill>
                        </a:rPr>
                        <a:t>Discovery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Item-Item CF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0.009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</a:rPr>
                        <a:t>0.009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AAAA"/>
                          </a:solidFill>
                        </a:rPr>
                        <a:t>7.3%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AAAAAA"/>
                          </a:solidFill>
                        </a:rPr>
                        <a:t>Explanability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34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023360" y="2834640"/>
            <a:ext cx="4846320" cy="2103120"/>
          </a:xfrm>
          <a:prstGeom prst="roundRect">
            <a:avLst>
              <a:gd name="adj" fmla="val 5217"/>
            </a:avLst>
          </a:prstGeom>
          <a:solidFill>
            <a:srgbClr val="1A1A2E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51960" y="29718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0A500">
              <a:alpha val="2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5196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0A500"/>
                </a:solidFill>
              </a:rPr>
              <a:t>NEXT STEPS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160520" y="3291840"/>
            <a:ext cx="4480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MF (accuracy) + Content-Based (coverage) for a system that is both accurate and diverse.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Post-filter recommendations to enforce minimum tail exposure and reduce popularity bias.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— MovieLens Recommender System</dc:title>
  <dc:subject>PptxGenJS Presentation</dc:subject>
  <dc:creator>Maryeme Idiata</dc:creator>
  <cp:lastModifiedBy>Maryeme Idiata</cp:lastModifiedBy>
  <cp:revision>1</cp:revision>
  <dcterms:created xsi:type="dcterms:W3CDTF">2026-06-25T14:30:01Z</dcterms:created>
  <dcterms:modified xsi:type="dcterms:W3CDTF">2026-06-25T14:30:01Z</dcterms:modified>
</cp:coreProperties>
</file>